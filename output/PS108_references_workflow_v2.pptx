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Sources cited in the table:
1. BIS Standards Portal: https://standards.bis.gov.in/
2. BIS Quality Control Orders Guidance: https://www.bis.gov.in/wp-content/uploads/2021/08/Guidance-Document-on-Quality-Control-Orders-QCOs.pdf
3. Government e-Marketplace: https://gem.gov.in/
4. Sentence Transformers CrossEncoder documentation: https://www.sbert.net/docs/cross_encoder/usage/usage.html
5. Chroma Documentation: https://docs.trychroma.com/</a:t>
            </a:r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Workflow labels are original adaptations of the BIS-SpecAI architecture in this deck.
SVG icon assets: Font Awesome Free, https://fontawesome.com/ and https://github.com/FortAwesome/Font-Awesome (CC BY 4.0).</a:t>
            </a: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trychroma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sbert.net/docs/cross_encoder/usage/usag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m.gov.in/" TargetMode="External"/><Relationship Id="rId5" Type="http://schemas.openxmlformats.org/officeDocument/2006/relationships/hyperlink" Target="https://www.bis.gov.in/wp-content/uploads/2021/08/Guidance-Document-on-Quality-Control-Orders-QCOs.pdf" TargetMode="External"/><Relationship Id="rId4" Type="http://schemas.openxmlformats.org/officeDocument/2006/relationships/hyperlink" Target="https://standards.bis.gov.in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.pn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88550" y="1211212"/>
            <a:ext cx="59247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–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SIH26108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Title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</a:t>
            </a: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Recommendation Engine for Identifying Applicable Indian Standards for Procurement Specifications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Software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33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–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Winter is Coming</a:t>
            </a: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Generated image: Construction Collapse Warning Scene">
            <a:extLst>
              <a:ext uri="{FF2B5EF4-FFF2-40B4-BE49-F238E27FC236}">
                <a16:creationId xmlns:a16="http://schemas.microsoft.com/office/drawing/2014/main" id="{8B1C5C63-B37A-C53A-9FA7-65139DE9F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3" name="AutoShape 4" descr="Generated image: Construction Collapse Warning Scene">
            <a:extLst>
              <a:ext uri="{FF2B5EF4-FFF2-40B4-BE49-F238E27FC236}">
                <a16:creationId xmlns:a16="http://schemas.microsoft.com/office/drawing/2014/main" id="{F9348187-3E16-71E4-7E63-741B5CE64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Google Shape;100;p14">
            <a:extLst>
              <a:ext uri="{FF2B5EF4-FFF2-40B4-BE49-F238E27FC236}">
                <a16:creationId xmlns:a16="http://schemas.microsoft.com/office/drawing/2014/main" id="{A5993E42-D740-7B71-C7D7-2AD500E65EDA}"/>
              </a:ext>
            </a:extLst>
          </p:cNvPr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92981-E150-1944-95AF-67F5833816DD}"/>
              </a:ext>
            </a:extLst>
          </p:cNvPr>
          <p:cNvSpPr txBox="1"/>
          <p:nvPr/>
        </p:nvSpPr>
        <p:spPr>
          <a:xfrm>
            <a:off x="11434916" y="6449961"/>
            <a:ext cx="425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3000" y="-25"/>
            <a:ext cx="10972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BIS-</a:t>
            </a:r>
            <a:r>
              <a:rPr lang="en-US" sz="3100" b="1" u="sng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SpecAI</a:t>
            </a:r>
            <a:br>
              <a:rPr lang="en-US" sz="31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AI-Powered Indian Standards &amp; Procurement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34903" y="1373854"/>
            <a:ext cx="4327500" cy="2128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Difficult Standard Discovery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Compliance Risk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Complex Dependencies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Outdated Citations </a:t>
            </a:r>
            <a:endParaRPr sz="1700"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172" y="3237800"/>
            <a:ext cx="1440624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3455325" y="3260725"/>
            <a:ext cx="303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940888" y="1437261"/>
            <a:ext cx="3981900" cy="261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AI Search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Normative Graph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QCO Enforcement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GEM-Ready Clause Generation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3039" y="4608238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9447" y="4662662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1624" y="3411623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1378" y="3438503"/>
            <a:ext cx="807324" cy="80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000" y="3064860"/>
            <a:ext cx="1123853" cy="14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6075" y="4865188"/>
            <a:ext cx="1251850" cy="1187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7824971" y="1255931"/>
            <a:ext cx="4407300" cy="270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Evidence-Backed AI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Search → Complete Compliance View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Deprecation-Aware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Procurement-Ready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380000" y="1373854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Existing Problem</a:t>
            </a: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175200" y="1342750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Proposed Solution</a:t>
            </a:r>
            <a:endParaRPr sz="22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013000" y="1270931"/>
            <a:ext cx="356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Unique Value Proposition</a:t>
            </a:r>
            <a:endParaRPr sz="22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89536" y="3271771"/>
            <a:ext cx="1592369" cy="10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32222" y="4622317"/>
            <a:ext cx="1123850" cy="11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2" descr="GeM Bid Document Infographic">
            <a:extLst>
              <a:ext uri="{FF2B5EF4-FFF2-40B4-BE49-F238E27FC236}">
                <a16:creationId xmlns:a16="http://schemas.microsoft.com/office/drawing/2014/main" id="{50487708-0967-41BE-CCB1-CCC6651313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F2654-95B0-A3A2-01D0-F429EA3056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000" y="3079284"/>
            <a:ext cx="1089140" cy="1452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36210-0CF8-A08E-E0C7-3246C7BAE8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6853" y="3225118"/>
            <a:ext cx="1883897" cy="1255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10" grpId="0" animBg="1"/>
      <p:bldP spid="117" grpId="0" animBg="1"/>
      <p:bldP spid="118" grpId="0"/>
      <p:bldP spid="119" grpId="0"/>
      <p:bldP spid="1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2533653"/>
            <a:ext cx="938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ftr" idx="11"/>
          </p:nvPr>
        </p:nvSpPr>
        <p:spPr>
          <a:xfrm flipV="1">
            <a:off x="4648200" y="6721478"/>
            <a:ext cx="3204000" cy="593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33" name="Google Shape;133;p15" descr="Your startup LOGO"/>
          <p:cNvSpPr/>
          <p:nvPr/>
        </p:nvSpPr>
        <p:spPr>
          <a:xfrm>
            <a:off x="329773" y="12899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4">
            <a:alphaModFix/>
          </a:blip>
          <a:srcRect t="13562" b="7729"/>
          <a:stretch/>
        </p:blipFill>
        <p:spPr>
          <a:xfrm>
            <a:off x="81050" y="1063837"/>
            <a:ext cx="12110952" cy="519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4050516" y="1497892"/>
            <a:ext cx="3453000" cy="257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>
                <a:alpha val="98000"/>
              </a:schemeClr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</a:t>
            </a: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CHALLENGES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Quality &amp; Updates</a:t>
            </a:r>
          </a:p>
          <a:p>
            <a:pPr marL="44450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LLM Latency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254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GPU Constraints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2545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Multilingual Complexity </a:t>
            </a:r>
            <a:endParaRPr sz="1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Oswald"/>
                <a:ea typeface="Oswald"/>
                <a:cs typeface="Oswald"/>
                <a:sym typeface="Oswald"/>
              </a:rPr>
              <a:t>    </a:t>
            </a: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DAEA6-318B-3B2B-CED5-0DB2062AB5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6939720" y="3757024"/>
            <a:ext cx="1416672" cy="141667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6350" stA="2000" endPos="0" dist="50800" dir="5400000" sy="-100000" algn="bl" rotWithShape="0"/>
          </a:effectLst>
        </p:spPr>
      </p:pic>
      <p:sp>
        <p:nvSpPr>
          <p:cNvPr id="141" name="Google Shape;141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0" y="1224009"/>
            <a:ext cx="3813900" cy="257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/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FEASIBLILITY</a:t>
            </a: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Modular Architecture 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AI Stack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+ Local Execution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lang="en-IN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API-Based Integration</a:t>
            </a:r>
            <a:endParaRPr lang="en-IN"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280502" y="1611200"/>
            <a:ext cx="3749434" cy="238143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glow>
              <a:schemeClr val="accent1"/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/>
                <a:ea typeface="Oswald"/>
                <a:cs typeface="Oswald"/>
                <a:sym typeface="Oswald"/>
              </a:rPr>
              <a:t>   </a:t>
            </a: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MITIGATION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Updating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Cloud → Local LLM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Quantized GGUF Models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+ Query Expansion </a:t>
            </a:r>
            <a:endParaRPr sz="1600" b="1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D7B480D-87D2-07A4-FE85-04E98E0208FF}"/>
              </a:ext>
            </a:extLst>
          </p:cNvPr>
          <p:cNvSpPr/>
          <p:nvPr/>
        </p:nvSpPr>
        <p:spPr>
          <a:xfrm>
            <a:off x="762960" y="1194202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0C98A5-97B4-8006-31CD-AFD8A4137CD2}"/>
              </a:ext>
            </a:extLst>
          </p:cNvPr>
          <p:cNvSpPr/>
          <p:nvPr/>
        </p:nvSpPr>
        <p:spPr>
          <a:xfrm>
            <a:off x="4863852" y="1091118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E574F4F-85B9-9BFD-718E-40E56BE2F4F0}"/>
              </a:ext>
            </a:extLst>
          </p:cNvPr>
          <p:cNvSpPr/>
          <p:nvPr/>
        </p:nvSpPr>
        <p:spPr>
          <a:xfrm>
            <a:off x="9462045" y="1091118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37BEE-B75F-3CCE-952B-641CA25B703D}"/>
              </a:ext>
            </a:extLst>
          </p:cNvPr>
          <p:cNvSpPr txBox="1"/>
          <p:nvPr/>
        </p:nvSpPr>
        <p:spPr>
          <a:xfrm>
            <a:off x="3689616" y="4120206"/>
            <a:ext cx="38139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VIABILITY</a:t>
            </a:r>
          </a:p>
          <a:p>
            <a:pPr algn="ctr"/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Deployment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&amp; Legal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Sovereignty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Sustainable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8D23E70-9D15-4E44-9C4D-5CC9B4E77475}"/>
              </a:ext>
            </a:extLst>
          </p:cNvPr>
          <p:cNvSpPr/>
          <p:nvPr/>
        </p:nvSpPr>
        <p:spPr>
          <a:xfrm>
            <a:off x="4903392" y="3510653"/>
            <a:ext cx="1386348" cy="55162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6C66B7-9CA1-4CCC-C857-935E2B2F07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080065" y="1129400"/>
            <a:ext cx="1111935" cy="11119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E4E49C-F209-3F83-D599-FB4B131E8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236" y="1357847"/>
            <a:ext cx="953794" cy="953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286DDC-26EC-2401-2612-2678E9196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057" y="787629"/>
            <a:ext cx="1416672" cy="14166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47" grpId="0" animBg="1"/>
      <p:bldP spid="150" grpId="0" animBg="1"/>
      <p:bldP spid="2" grpId="0" animBg="1"/>
      <p:bldP spid="3" grpId="0" animBg="1"/>
      <p:bldP spid="4" grpId="0" animBg="1"/>
      <p:bldP spid="6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592889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7"/>
          <p:cNvSpPr txBox="1">
            <a:spLocks noGrp="1"/>
          </p:cNvSpPr>
          <p:nvPr>
            <p:ph type="ftr" idx="11"/>
          </p:nvPr>
        </p:nvSpPr>
        <p:spPr>
          <a:xfrm flipV="1">
            <a:off x="4648200" y="6721478"/>
            <a:ext cx="3204000" cy="13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7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61DF7-9E55-E93E-6681-A8BBFF44D27F}"/>
              </a:ext>
            </a:extLst>
          </p:cNvPr>
          <p:cNvSpPr txBox="1"/>
          <p:nvPr/>
        </p:nvSpPr>
        <p:spPr>
          <a:xfrm>
            <a:off x="698089" y="2156692"/>
            <a:ext cx="6754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Procurement Officers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Bidders, MSMEs &amp; Vendors</a:t>
            </a:r>
            <a:endParaRPr lang="en-IN" sz="24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Authorities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E86FE-1089-850B-3715-2B6862B136B8}"/>
              </a:ext>
            </a:extLst>
          </p:cNvPr>
          <p:cNvSpPr txBox="1"/>
          <p:nvPr/>
        </p:nvSpPr>
        <p:spPr>
          <a:xfrm>
            <a:off x="698088" y="1395246"/>
            <a:ext cx="6754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2B437-B4BA-FAFB-F06C-6DE841962838}"/>
              </a:ext>
            </a:extLst>
          </p:cNvPr>
          <p:cNvSpPr txBox="1"/>
          <p:nvPr/>
        </p:nvSpPr>
        <p:spPr>
          <a:xfrm>
            <a:off x="698088" y="3588625"/>
            <a:ext cx="6754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91E2E-B89B-4108-2B82-C586B74FC861}"/>
              </a:ext>
            </a:extLst>
          </p:cNvPr>
          <p:cNvSpPr txBox="1"/>
          <p:nvPr/>
        </p:nvSpPr>
        <p:spPr>
          <a:xfrm>
            <a:off x="698089" y="4418338"/>
            <a:ext cx="6754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Safety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E99EC8-C2FC-D605-FA96-2C33BE18B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752" y="1602535"/>
            <a:ext cx="3410862" cy="1800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F73C8-EC4D-DBF8-EF56-ECE9B68F6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086" y="1714910"/>
            <a:ext cx="1714090" cy="17140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A9DA18-CAB0-A281-E001-566D1AD34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112" y="1686645"/>
            <a:ext cx="2405476" cy="2405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760BE5-8979-C525-94B0-F86C11726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465" y="3731511"/>
            <a:ext cx="2345115" cy="23451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B95727-6EB1-3947-4021-8C821CA0E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2200" y="4092121"/>
            <a:ext cx="2103650" cy="1753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72" name="Google Shape;172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4" name="Google Shape;174;p1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E8B01-1066-D6AB-8B18-ADD964E67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94320"/>
              </p:ext>
            </p:extLst>
          </p:nvPr>
        </p:nvGraphicFramePr>
        <p:xfrm>
          <a:off x="1012723" y="1359451"/>
          <a:ext cx="9940412" cy="457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4255">
                  <a:extLst>
                    <a:ext uri="{9D8B030D-6E8A-4147-A177-3AD203B41FA5}">
                      <a16:colId xmlns:a16="http://schemas.microsoft.com/office/drawing/2014/main" val="2790529498"/>
                    </a:ext>
                  </a:extLst>
                </a:gridCol>
                <a:gridCol w="4946157">
                  <a:extLst>
                    <a:ext uri="{9D8B030D-6E8A-4147-A177-3AD203B41FA5}">
                      <a16:colId xmlns:a16="http://schemas.microsoft.com/office/drawing/2014/main" val="1456450238"/>
                    </a:ext>
                  </a:extLst>
                </a:gridCol>
              </a:tblGrid>
              <a:tr h="763205"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1600" b="1" u="none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en-IN" sz="1600" b="1" u="none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004470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i="0" u="none" strike="noStrike" cap="none" spc="0">
                          <a:solidFill>
                            <a:srgbClr val="1F4E79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BIS Standards Portal</a:t>
                      </a:r>
                      <a:endParaRPr lang="en-IN" sz="1300" b="1" u="none" dirty="0">
                        <a:solidFill>
                          <a:srgbClr val="1F4E7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standards.bis.gov.in</a:t>
                      </a:r>
                      <a:endParaRPr lang="en-IN" sz="1200" b="0" u="sng" dirty="0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93950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 Quality Control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bis.gov.in/QCO-guidance</a:t>
                      </a:r>
                      <a:endParaRPr lang="en-IN" sz="1200" b="0" u="sng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49092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e-Marketplace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gem.gov.in</a:t>
                      </a:r>
                      <a:endParaRPr lang="en-IN" sz="1200" b="0" u="sng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885314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Transformers CrossEncoder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sbert.net/cross-encoder</a:t>
                      </a:r>
                      <a:endParaRPr lang="en-IN" sz="1200" b="0" u="sng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8803"/>
                  </a:ext>
                </a:extLst>
              </a:tr>
              <a:tr h="763205">
                <a:tc>
                  <a:txBody>
                    <a:bodyPr/>
                    <a:lstStyle/>
                    <a:p>
                      <a:r>
                        <a:rPr lang="en-IN" sz="1300" b="1" u="none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Chroma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u="sng">
                          <a:solidFill>
                            <a:srgbClr val="0000E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docs.trychroma.com</a:t>
                      </a:r>
                      <a:endParaRPr lang="en-IN" sz="1200" b="0" u="sng" dirty="0">
                        <a:solidFill>
                          <a:srgbClr val="0000E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89488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3000" y="-25"/>
            <a:ext cx="10972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F4E79"/>
                </a:solidFill>
                <a:latin typeface="Arial" panose="020B0604020202020204" pitchFamily="34" charset="0"/>
                <a:ea typeface="Times New Roman"/>
                <a:cs typeface="Times New Roman"/>
                <a:sym typeface="Times New Roman"/>
              </a:rPr>
              <a:t>BIS-SpecAI</a:t>
            </a:r>
            <a:br>
              <a:rPr lang="en-US" sz="2700" b="1">
                <a:solidFill>
                  <a:srgbClr val="1F4E79"/>
                </a:solidFill>
                <a:latin typeface="Arial" panose="020B0604020202020204" pitchFamily="34" charset="0"/>
                <a:ea typeface="Times New Roman"/>
                <a:cs typeface="Times New Roman"/>
                <a:sym typeface="Times New Roman"/>
              </a:rPr>
            </a:br>
            <a:r>
              <a:rPr lang="en-US" sz="2700" b="1">
                <a:solidFill>
                  <a:srgbClr val="1F4E79"/>
                </a:solidFill>
                <a:latin typeface="Arial" panose="020B0604020202020204" pitchFamily="34" charset="0"/>
                <a:ea typeface="Times New Roman"/>
                <a:cs typeface="Times New Roman"/>
                <a:sym typeface="Times New Roman"/>
              </a:rPr>
              <a:t>Customizable Procurement Workflow</a:t>
            </a:r>
            <a:endParaRPr lang="en-US" sz="2700" b="1" dirty="0">
              <a:solidFill>
                <a:srgbClr val="1F4E79"/>
              </a:solidFill>
              <a:latin typeface="Arial" panose="020B06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7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18EDF3-0CF6-3DED-CC04-A503F5E1CBB7}"/>
              </a:ext>
            </a:extLst>
          </p:cNvPr>
          <p:cNvSpPr txBox="1"/>
          <p:nvPr/>
        </p:nvSpPr>
        <p:spPr>
          <a:xfrm>
            <a:off x="355600" y="1244600"/>
            <a:ext cx="3276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>
                <a:solidFill>
                  <a:srgbClr val="4F81BD"/>
                </a:solidFill>
                <a:latin typeface="Oswald" panose="00000500000000000000" pitchFamily="2" charset="0"/>
              </a:rPr>
              <a:t>INPUT COMPONENTS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59083-0C57-39B2-8EC5-0D4A9B714E29}"/>
              </a:ext>
            </a:extLst>
          </p:cNvPr>
          <p:cNvSpPr txBox="1"/>
          <p:nvPr/>
        </p:nvSpPr>
        <p:spPr>
          <a:xfrm>
            <a:off x="4457700" y="1244600"/>
            <a:ext cx="3276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>
                <a:solidFill>
                  <a:srgbClr val="4F81BD"/>
                </a:solidFill>
                <a:latin typeface="Oswald" panose="00000500000000000000" pitchFamily="2" charset="0"/>
              </a:rPr>
              <a:t>WORKFLOW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4A66C-E574-4655-0093-134760FDA9BF}"/>
              </a:ext>
            </a:extLst>
          </p:cNvPr>
          <p:cNvSpPr txBox="1"/>
          <p:nvPr/>
        </p:nvSpPr>
        <p:spPr>
          <a:xfrm>
            <a:off x="8559800" y="1244600"/>
            <a:ext cx="3276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900" b="1">
                <a:solidFill>
                  <a:srgbClr val="4F81BD"/>
                </a:solidFill>
                <a:latin typeface="Oswald" panose="00000500000000000000" pitchFamily="2" charset="0"/>
              </a:rPr>
              <a:t>OUTPUT COMPONENTS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A2D09F-33F1-B2D3-65BC-CE0E3AD14EE6}"/>
              </a:ext>
            </a:extLst>
          </p:cNvPr>
          <p:cNvSpPr/>
          <p:nvPr/>
        </p:nvSpPr>
        <p:spPr>
          <a:xfrm>
            <a:off x="355600" y="18034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Tender specification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73BD3A5-56F1-70F4-44CC-2C8A2872DCD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" y="2006600"/>
            <a:ext cx="279400" cy="2794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347CE4-1F5A-5810-7D36-FDDE8C42B766}"/>
              </a:ext>
            </a:extLst>
          </p:cNvPr>
          <p:cNvSpPr/>
          <p:nvPr/>
        </p:nvSpPr>
        <p:spPr>
          <a:xfrm>
            <a:off x="355600" y="2794000"/>
            <a:ext cx="3276600" cy="6858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Supporting documents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2E8E4E7-C0EC-95C4-22E4-2B79B3B1F3C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" y="2997200"/>
            <a:ext cx="279400" cy="279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547E73-EAEE-B291-9EDC-972A861F4DCF}"/>
              </a:ext>
            </a:extLst>
          </p:cNvPr>
          <p:cNvSpPr/>
          <p:nvPr/>
        </p:nvSpPr>
        <p:spPr>
          <a:xfrm>
            <a:off x="355600" y="37846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Language and query options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ECE813D-3E1F-5B4B-076A-3989B842256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" y="3987800"/>
            <a:ext cx="279400" cy="2794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6962D1-3E89-C823-9786-E8710F89F97C}"/>
              </a:ext>
            </a:extLst>
          </p:cNvPr>
          <p:cNvSpPr/>
          <p:nvPr/>
        </p:nvSpPr>
        <p:spPr>
          <a:xfrm>
            <a:off x="4457700" y="1701800"/>
            <a:ext cx="3276600" cy="6096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Document parsing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95A1DFB-DCB8-551C-6576-2C43B6DD39F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1866900"/>
            <a:ext cx="279400" cy="279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50652D-DE94-BAF3-4B57-56A513DFC6AC}"/>
              </a:ext>
            </a:extLst>
          </p:cNvPr>
          <p:cNvSpPr/>
          <p:nvPr/>
        </p:nvSpPr>
        <p:spPr>
          <a:xfrm>
            <a:off x="4457700" y="2565400"/>
            <a:ext cx="3276600" cy="6096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Hybrid retrieval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AEBC166D-21BD-E1E0-225F-65354729411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2730500"/>
            <a:ext cx="279400" cy="2794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354A4F-C23B-E286-2012-EBF2D391AF41}"/>
              </a:ext>
            </a:extLst>
          </p:cNvPr>
          <p:cNvSpPr/>
          <p:nvPr/>
        </p:nvSpPr>
        <p:spPr>
          <a:xfrm>
            <a:off x="4457700" y="3429000"/>
            <a:ext cx="3276600" cy="6096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Normative reference graph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8854FCDC-F719-8788-A204-3E04C00B930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7400" y="3594100"/>
            <a:ext cx="279400" cy="2794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9D80DC3-39A7-0473-BC15-F35043912E1F}"/>
              </a:ext>
            </a:extLst>
          </p:cNvPr>
          <p:cNvSpPr/>
          <p:nvPr/>
        </p:nvSpPr>
        <p:spPr>
          <a:xfrm>
            <a:off x="4457700" y="4292600"/>
            <a:ext cx="3276600" cy="6096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QCO compliance check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27B7DFDD-866D-8E79-69A2-A6ECED56507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7400" y="4457700"/>
            <a:ext cx="279400" cy="27940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6EF518-2387-BD36-F699-B0212E665D94}"/>
              </a:ext>
            </a:extLst>
          </p:cNvPr>
          <p:cNvSpPr/>
          <p:nvPr/>
        </p:nvSpPr>
        <p:spPr>
          <a:xfrm>
            <a:off x="8559800" y="18034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Applicable Indian Standards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9291F8C-32A7-A285-FA94-B491CC08A9DE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9500" y="2006600"/>
            <a:ext cx="279400" cy="27940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54A846-6BDB-1EF1-A66C-404FB89B1A3C}"/>
              </a:ext>
            </a:extLst>
          </p:cNvPr>
          <p:cNvSpPr/>
          <p:nvPr/>
        </p:nvSpPr>
        <p:spPr>
          <a:xfrm>
            <a:off x="8559800" y="2794000"/>
            <a:ext cx="3276600" cy="6858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Compliance verdict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98E5CDA-8F54-0624-E66C-CD3BB8800288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500" y="2997200"/>
            <a:ext cx="279400" cy="27940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7D003B1-9B1F-B914-31C3-DBAF0ADC52EE}"/>
              </a:ext>
            </a:extLst>
          </p:cNvPr>
          <p:cNvSpPr/>
          <p:nvPr/>
        </p:nvSpPr>
        <p:spPr>
          <a:xfrm>
            <a:off x="8559800" y="3784600"/>
            <a:ext cx="3276600" cy="6858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0" tIns="0" rIns="101600" bIns="0" rtlCol="0" anchor="ctr"/>
          <a:lstStyle/>
          <a:p>
            <a:r>
              <a:rPr lang="en-IN" sz="1300" b="1">
                <a:solidFill>
                  <a:srgbClr val="1F4E79"/>
                </a:solidFill>
                <a:latin typeface="Times New Roman" panose="02020603050405020304" pitchFamily="18" charset="0"/>
              </a:rPr>
              <a:t>GeM-ready tender clause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D88ACE4F-B145-6E3A-F774-86CA02D96266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9500" y="3987800"/>
            <a:ext cx="279400" cy="2794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E1AC05F-9EB4-CF49-BA7F-7743730D844F}"/>
              </a:ext>
            </a:extLst>
          </p:cNvPr>
          <p:cNvCxnSpPr/>
          <p:nvPr/>
        </p:nvCxnSpPr>
        <p:spPr>
          <a:xfrm>
            <a:off x="6096000" y="24892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76CF18-7F01-2D04-F48A-9D9018B04ABB}"/>
              </a:ext>
            </a:extLst>
          </p:cNvPr>
          <p:cNvCxnSpPr/>
          <p:nvPr/>
        </p:nvCxnSpPr>
        <p:spPr>
          <a:xfrm>
            <a:off x="6096000" y="33528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DFB8D1-C491-F647-6613-60EEEDD984B6}"/>
              </a:ext>
            </a:extLst>
          </p:cNvPr>
          <p:cNvCxnSpPr/>
          <p:nvPr/>
        </p:nvCxnSpPr>
        <p:spPr>
          <a:xfrm>
            <a:off x="6096000" y="42164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1F0335E-8DB0-4922-B113-D4584D80A890}"/>
              </a:ext>
            </a:extLst>
          </p:cNvPr>
          <p:cNvCxnSpPr/>
          <p:nvPr/>
        </p:nvCxnSpPr>
        <p:spPr>
          <a:xfrm>
            <a:off x="1993900" y="26416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7F72AC-030B-92AB-5500-2F4E61C3B9CF}"/>
              </a:ext>
            </a:extLst>
          </p:cNvPr>
          <p:cNvCxnSpPr/>
          <p:nvPr/>
        </p:nvCxnSpPr>
        <p:spPr>
          <a:xfrm>
            <a:off x="1993900" y="36322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C71A70-E625-8113-1236-955FBB5BB130}"/>
              </a:ext>
            </a:extLst>
          </p:cNvPr>
          <p:cNvCxnSpPr/>
          <p:nvPr/>
        </p:nvCxnSpPr>
        <p:spPr>
          <a:xfrm>
            <a:off x="10198100" y="26416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ECF2AD-7B43-349C-3028-4EF7468AE86B}"/>
              </a:ext>
            </a:extLst>
          </p:cNvPr>
          <p:cNvCxnSpPr/>
          <p:nvPr/>
        </p:nvCxnSpPr>
        <p:spPr>
          <a:xfrm>
            <a:off x="10198100" y="3632200"/>
            <a:ext cx="0" cy="190500"/>
          </a:xfrm>
          <a:prstGeom prst="straightConnector1">
            <a:avLst/>
          </a:prstGeom>
          <a:ln w="17145">
            <a:solidFill>
              <a:srgbClr val="4F81B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1C04686-19F4-8B25-7D44-D348A3B7FF72}"/>
              </a:ext>
            </a:extLst>
          </p:cNvPr>
          <p:cNvSpPr txBox="1"/>
          <p:nvPr/>
        </p:nvSpPr>
        <p:spPr>
          <a:xfrm>
            <a:off x="1397000" y="5207000"/>
            <a:ext cx="939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i="1">
                <a:solidFill>
                  <a:srgbClr val="1F4E79"/>
                </a:solidFill>
                <a:latin typeface="Times New Roman" panose="02020603050405020304" pitchFamily="18" charset="0"/>
              </a:rPr>
              <a:t>Select the modules required for each procurement specification.</a:t>
            </a:r>
            <a:endParaRPr lang="en-IN" sz="1300" i="1">
              <a:solidFill>
                <a:srgbClr val="1F4E79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46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32" grpId="0" animBg="1"/>
      <p:bldP spid="3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449</Words>
  <Application>Microsoft Office PowerPoint</Application>
  <PresentationFormat>Widescreen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Arial</vt:lpstr>
      <vt:lpstr>Times New Roman</vt:lpstr>
      <vt:lpstr>Oswald</vt:lpstr>
      <vt:lpstr>Garamond</vt:lpstr>
      <vt:lpstr>Wingdings</vt:lpstr>
      <vt:lpstr>Office Theme</vt:lpstr>
      <vt:lpstr>SMART INDIA HACKATHON 2026</vt:lpstr>
      <vt:lpstr>   BIS-SpecAI AI-Powered Indian Standards &amp; Procurement </vt:lpstr>
      <vt:lpstr>TECHNICAL APPROACH</vt:lpstr>
      <vt:lpstr>FEASIBILITY AND VIABILITY</vt:lpstr>
      <vt:lpstr>IMPACT AND BENEFITS</vt:lpstr>
      <vt:lpstr>RESEARCH  AND REFERENCES</vt:lpstr>
      <vt:lpstr>BIS-SpecAI Customizable Procurement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SK NASEER</dc:creator>
  <cp:lastModifiedBy>SK NASEER</cp:lastModifiedBy>
  <cp:revision>8</cp:revision>
  <dcterms:modified xsi:type="dcterms:W3CDTF">2026-09-07T18:44:52Z</dcterms:modified>
</cp:coreProperties>
</file>